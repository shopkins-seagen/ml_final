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" y="2834640"/>
            <a:ext cx="12124944" cy="54864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SDTM Domain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DDFF"/>
                </a:solidFill>
              </a:rPr>
              <a:t>Classifying Clinical Trial Variables using KNN &amp; CART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AABBDD"/>
                </a:solidFill>
              </a:rPr>
              <a:t>Domains: AE · CM · DM · EG · EX · LB · MH · PE · SC · VS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BBDD"/>
                </a:solidFill>
              </a:rPr>
              <a:t>Models:  K-Nearest Neighbors (KNN)   vs   Classification &amp; Regression Tree (CART)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BBDD"/>
                </a:solidFill>
              </a:rPr>
              <a:t>Dataset: 266 SDTM variables  ·  200 TF-IDF features  ·  10 target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BBDD"/>
                </a:solidFill>
              </a:rPr>
              <a:t>Data Analytics Final Project  ·  Stevens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0972800" cy="9601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9CF4"/>
                </a:solidFill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Given a variable label from a clinical trial dataset, automatically predict which SDTM domain it belongs to (AE, LB, VS, etc.).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0972800" cy="9601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9CF4"/>
                </a:solidFill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Manual SDTM mapping is time-consuming and error-prone. An ML classifier speeds up dataset curation for clinical submissions.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40"/>
            <a:ext cx="10972800" cy="9601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9CF4"/>
                </a:solidFill>
              </a:rPr>
              <a:t>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Text features (TF-IDF) from variable names &amp; labels → train KNN and CART → compare performance on held-out test set.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43400"/>
            <a:ext cx="10972800" cy="9601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9CF4"/>
                </a:solidFill>
              </a:rPr>
              <a:t>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266 SDTM variables across 10 domains, sourced from the CDISC SDTM Implementation Guide. Stratified 75/25 train/test split.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End-to-End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25880" cy="146304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Load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Read CSV
266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9CF4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371600"/>
            <a:ext cx="1325880" cy="146304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Preprocess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1488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Drop nulls
Label encode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9CF4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371600"/>
            <a:ext cx="1325880" cy="146304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TF-IDF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1488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Vectorize
200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9CF4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1371600"/>
            <a:ext cx="1325880" cy="146304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1488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75% train
25%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9CF4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371600"/>
            <a:ext cx="1325880" cy="146304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Train KNN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1488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CV k=1..15
Cosine dist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9CF4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1371600"/>
            <a:ext cx="1325880" cy="146304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Train CART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1488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GridSearch
depth+split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9CF4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1371600"/>
            <a:ext cx="1325880" cy="146304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Evaluate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1488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Accuracy
F1 + CM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19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9CF4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98480" y="1371600"/>
            <a:ext cx="1325880" cy="146304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9848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21488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KNN vs CART
Bar chart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Step 1 — Load &amp; Explore the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Dataset: sdtm_variables.csv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9CF4"/>
                </a:solidFill>
              </a:rPr>
              <a:t>variable_name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5087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AETERM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9280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9CF4"/>
                </a:solidFill>
              </a:rPr>
              <a:t>variable_label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89280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Reported Term for the Adverse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768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9CF4"/>
                </a:solidFill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768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Domain Distribution (266 rows):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1005840" cy="903642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0404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AE
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200400"/>
            <a:ext cx="1005840" cy="903642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10404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CM
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3200400"/>
            <a:ext cx="1005840" cy="1032734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423313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DM
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79" y="3200400"/>
            <a:ext cx="1005840" cy="903642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79" y="410404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EG
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200400"/>
            <a:ext cx="1005840" cy="742277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942677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EX
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3200400"/>
            <a:ext cx="1005840" cy="1000461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4200861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LB
31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3200400"/>
            <a:ext cx="1005840" cy="77455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97495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MH
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3200400"/>
            <a:ext cx="1005840" cy="710004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391040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PE
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3200400"/>
            <a:ext cx="1005840" cy="516367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3716767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SC
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21240" y="3200400"/>
            <a:ext cx="1005840" cy="109728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42976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VS
34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0515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Key observations:
• 3 columns: variable_name, variable_label, domain
• 10 SDTM domains are the target classes
• No missing values after cleaning
• Domain counts range from 16 (SC) to 34 (VS)
• Slight class imbalance — handled with stratified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Step 2 — Data Preprocessing &amp; Label Encoding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2a — Drop missing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303520" cy="457200"/>
          </a:xfrm>
          <a:prstGeom prst="rect">
            <a:avLst/>
          </a:prstGeom>
          <a:solidFill>
            <a:srgbClr val="202038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df_clean = df.dropna().copy()
→ 266 clean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2b — Label Encode the domain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5303520" cy="457200"/>
          </a:xfrm>
          <a:prstGeom prst="rect">
            <a:avLst/>
          </a:prstGeom>
          <a:solidFill>
            <a:srgbClr val="202038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le = LabelEncoder()
df_clean['domain_encoded'] = le.fit_transform(df_clean['domain'])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9CF4"/>
                </a:solidFill>
              </a:rPr>
              <a:t>Why label encoding?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ML models need numeric targets, not strings.
LabelEncoder maps each domain to an integer (0–9).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Domain → Encoded Label Mapping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5448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938528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9385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93852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322576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32257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DM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32257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706624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7066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EG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70662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090672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0906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0906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4747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LB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47472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858768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58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MH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8587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242816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2428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24281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626864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6268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SC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62686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010912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0109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VS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01091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Step 3 — Feature Engineering (TF-IDF)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Combine variable_name + variable_label into one text string per row: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502920"/>
          </a:xfrm>
          <a:prstGeom prst="rect">
            <a:avLst/>
          </a:prstGeom>
          <a:solidFill>
            <a:srgbClr val="202038"/>
          </a:solidFill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df_clean['text'] = df_clean['variable_name'].str.lower() + ' ' + df_clean['variable_label'].str.lower()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TF-IDF Parameters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303520" cy="62179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243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22"/>
                </a:solidFill>
              </a:rPr>
              <a:t>ngram_range=(1,2)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98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Captures unigrams AND bigrams
e.g. 'adverse' + 'adverse event'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40"/>
            <a:ext cx="5303520" cy="62179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101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22"/>
                </a:solidFill>
              </a:rPr>
              <a:t>max_features=200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844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Keeps top 200 most informative tokens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77639"/>
            <a:ext cx="5303520" cy="62179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959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22"/>
                </a:solidFill>
              </a:rPr>
              <a:t>sublinear_tf=True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702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Uses log(TF)+1 instead of raw TF
Reduces dominance of frequent words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5303520" cy="62179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817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22"/>
                </a:solidFill>
              </a:rPr>
              <a:t>stop_words='english'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560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Removes 'the','for','of','in' — reduces noise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48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Output: Feature Matrix 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06040"/>
            <a:ext cx="5486400" cy="1645920"/>
          </a:xfrm>
          <a:prstGeom prst="rect">
            <a:avLst/>
          </a:prstGeom>
          <a:solidFill>
            <a:srgbClr val="202038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Shape:  (266, 200)
• 266 rows = one per SDTM variable
• 200 cols = one per TF-IDF token
• Values = TF-IDF score (0.0 if absent)
Example row for 'aeterm adverse event':
  adverse       →  0.82
  adverse event →  0.71
  vital signs   →  0.00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Step 4 — Train / Test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411480"/>
          </a:xfrm>
          <a:prstGeom prst="rect">
            <a:avLst/>
          </a:prstGeom>
          <a:solidFill>
            <a:srgbClr val="202038"/>
          </a:solidFill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train_test_split(X, y, test_size=0.25, random_state=42, stratify=y)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1737360"/>
            <a:ext cx="2743200" cy="822960"/>
          </a:xfrm>
          <a:prstGeom prst="rect">
            <a:avLst/>
          </a:prstGeom>
          <a:solidFill>
            <a:srgbClr val="FF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TRAINING SET
198 samples (75%)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737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TEST SET
68 samples (25%)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9CF4"/>
                </a:solidFill>
              </a:rPr>
              <a:t>test_size=0.25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200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25% held out for final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7588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9CF4"/>
                </a:solidFill>
              </a:rPr>
              <a:t>random_state=42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675887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Reproducible split every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513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9CF4"/>
                </a:solidFill>
              </a:rPr>
              <a:t>stratify=y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1513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Each domain keeps same proportion in both splits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stratify?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Without stratify, SC (only 16 rows) could end
up with 0 samples in the test set.
stratify=y guarantees every domain appears
in both splits in its correct proportion.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Step 5 — Train KNN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How KNN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1. Memorizes all training samples
2. Given a test point: computes COSINE
   DISTANCE to every training point
3. Finds k nearest neighbors
4. Takes majority vote → predicted domain
Why cosine? TF-IDF vectors are sparse &amp;
high-dimensional. Cosine measures direction
(word usage pattern), not magnitude.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Hyperparameter tuning: find best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5303520" cy="914400"/>
          </a:xfrm>
          <a:prstGeom prst="rect">
            <a:avLst/>
          </a:prstGeom>
          <a:solidFill>
            <a:srgbClr val="202038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for k in range(1, 16):
    5-fold CV on X_train
    record mean accuracy
best_k = k with highest CV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5-Fold Cross-Validation explained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5-fold CV splits training data into 5 parts:
  Fold 1: [Val] [Tr] [Tr] [Tr] [Tr]
  Fold 2: [Tr] [Val] [Tr] [Tr] [Tr]
  Fold 3: [Tr] [Tr] [Val] [Tr] [Tr]
  Fold 4: [Tr] [Tr] [Tr] [Val] [Tr]
  Fold 5: [Tr] [Tr] [Tr] [Tr] [Val]
Average accuracy across 5 folds = CV score
Test data is NEVER seen during this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Step 6 — Train CART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How CART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Builds a binary decision tree by repeatedly
splitting on the feature that most reduces
GINI IMPURITY:
  Gini = 1 - Σ(pᵢ)²
  • Gini = 0   → perfectly pure node
  • Gini = 0.9 → very mixed node
At each node: 'Is token X score &gt; 0.3?'
→ YES / NO branch → leaf =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GridSearchCV parameter grid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5303520" cy="822960"/>
          </a:xfrm>
          <a:prstGeom prst="rect">
            <a:avLst/>
          </a:prstGeom>
          <a:solidFill>
            <a:srgbClr val="202038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max_depth: [3, 5, 7, 10, None]
min_samples_split: [2, 4, 6]
→ 5 × 3 = 15 combinations × 5-fold CV = 75 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hyperparameters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303520" cy="74980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96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922"/>
                </a:solidFill>
              </a:rPr>
              <a:t>max_depth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105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Limits tree depth → prevents overfitting
None = grow until pure leaves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286000"/>
            <a:ext cx="5303520" cy="74980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225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922"/>
                </a:solidFill>
              </a:rPr>
              <a:t>min_samples_split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334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Min samples needed to split a node
Higher value = simpler tree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108960"/>
            <a:ext cx="5303520" cy="74980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14553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922"/>
                </a:solidFill>
              </a:rPr>
              <a:t>criterion='gini'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564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Splitting criterion
Gini impurity measures node purity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Steps 7 &amp; 8 — Evaluation Metrics Explained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51760" cy="11887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89CF4"/>
                </a:solidFill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% of all predictions correct
(TP+TN) / Total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97280"/>
            <a:ext cx="2651760" cy="11887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1155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89CF4"/>
                </a:solidFill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554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Of predicted domain X,
how many were actually X?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2651760" cy="11887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1155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89CF4"/>
                </a:solidFill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Of actual domain X,
how many were found?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097280"/>
            <a:ext cx="2651760" cy="11887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1155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89CF4"/>
                </a:solidFill>
              </a:rPr>
              <a:t>F1-Score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554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Harmonic mean of
Precision &amp;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14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Confusion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 10×10 matrix showing:
  • Rows = actual domain
  • Cols = predicted domain
  • Diagonal = correct predictions
  • Off-diagonal = misclassifications
Helps identify which domains get confused.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14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Weighted averaging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Metrics computed per-class then averaged
weighted by class size.
Important because domains are slightly
imbalanced (SC=16 vs VS=34).
Weighted avg prevents larger domains
from masking poor performance on smaller 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KNN Results &amp; Interpretation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651760" cy="10515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24712"/>
            <a:ext cx="2651760" cy="54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89CF4"/>
                </a:solidFill>
              </a:rPr>
              <a:t>83.8%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9917"/>
            <a:ext cx="265176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51560"/>
            <a:ext cx="2651760" cy="10515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124712"/>
            <a:ext cx="2651760" cy="54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CAF50"/>
                </a:solidFill>
              </a:rPr>
              <a:t>84.2%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29917"/>
            <a:ext cx="265176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051560"/>
            <a:ext cx="2651760" cy="10515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124712"/>
            <a:ext cx="2651760" cy="54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9922"/>
                </a:solidFill>
              </a:rPr>
              <a:t>83.8%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629917"/>
            <a:ext cx="265176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59" y="1051560"/>
            <a:ext cx="2651760" cy="10515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59" y="1124712"/>
            <a:ext cx="2651760" cy="54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B47BC"/>
                </a:solidFill>
              </a:rPr>
              <a:t>83.5%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59" y="1629917"/>
            <a:ext cx="265176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F1-Score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the KNN confusion matrix tells us: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88920"/>
            <a:ext cx="10972800" cy="8046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25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9CF4"/>
                </a:solidFill>
              </a:rPr>
              <a:t>• Strong performers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36391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DM, VS, LB and EX were classified near-perfectly. These domains have highly distinctive
variable labels (demographics, vital signs, lab tests) making them easy to separate.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66744"/>
            <a:ext cx="10972800" cy="8046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9CF4"/>
                </a:solidFill>
              </a:rPr>
              <a:t>• Common confusions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14215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PE (Physical Exam) was confused with VS (Vital Signs) — both contain body measurement
terminology, making text-based separation harder for a distance-based model.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44568"/>
            <a:ext cx="10972800" cy="8046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581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9CF4"/>
                </a:solidFill>
              </a:rPr>
              <a:t>• SC domain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SC (Subject Characteristics) has only 16 training samples — the smallest class.
KNN struggles here because fewer neighbors exist to vote correctly.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22392"/>
            <a:ext cx="10972800" cy="8046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458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9CF4"/>
                </a:solidFill>
              </a:rPr>
              <a:t>• Key limitation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9864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KNN is a black-box: we cannot explain WHY a prediction was made, only that
similar training examples voted for that domain — a problem in regulated settings.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CART Results &amp; Interpretation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651760" cy="10515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24712"/>
            <a:ext cx="2651760" cy="54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CAF50"/>
                </a:solidFill>
              </a:rPr>
              <a:t>98.5%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9917"/>
            <a:ext cx="265176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51560"/>
            <a:ext cx="2651760" cy="10515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124712"/>
            <a:ext cx="2651760" cy="54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89CF4"/>
                </a:solidFill>
              </a:rPr>
              <a:t>98.6%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29917"/>
            <a:ext cx="265176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051560"/>
            <a:ext cx="2651760" cy="10515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124712"/>
            <a:ext cx="2651760" cy="54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9922"/>
                </a:solidFill>
              </a:rPr>
              <a:t>98.5%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629917"/>
            <a:ext cx="265176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59" y="1051560"/>
            <a:ext cx="2651760" cy="10515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59" y="1124712"/>
            <a:ext cx="2651760" cy="54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B47BC"/>
                </a:solidFill>
              </a:rPr>
              <a:t>98.5%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59" y="1629917"/>
            <a:ext cx="265176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</a:rPr>
              <a:t>F1-Score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the CART confusion matrix tells us: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88920"/>
            <a:ext cx="10972800" cy="8046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25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</a:rPr>
              <a:t>• Near-perfect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36391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CART misclassified only 1–2 samples across all 10 domains on the test set.
The decision tree learned strong, generalizable rules from TF-IDF features.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66744"/>
            <a:ext cx="10972800" cy="8046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</a:rPr>
              <a:t>• Top discriminating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14215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Tokens like 'adverse', 'laboratory', 'vital signs', 'medication' rank highest in Gini importance.
These mirror real-world clinical naming conventions — the model learned domain logic.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44568"/>
            <a:ext cx="10972800" cy="8046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581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</a:rPr>
              <a:t>• Tree depth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Best max_depth from GridSearch was shallow (3–5 levels), meaning the classification problem
is largely solved by a handful of high-TF-IDF tokens — the tree is not overfitting.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22392"/>
            <a:ext cx="10972800" cy="8046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458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</a:rPr>
              <a:t>• Interpretability advantage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9864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Every prediction has a clear audit trail: 'if adverse_event &gt; 0.31 → AE'.
Critical for clinical/regulatory environments where decisions must be explainable.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Model Comparison — KNN vs CART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200400" cy="41148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097280"/>
            <a:ext cx="2286000" cy="41148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097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2286000" cy="41148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97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097280"/>
            <a:ext cx="2286000" cy="41148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097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Winner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554480"/>
            <a:ext cx="32004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5544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554480"/>
            <a:ext cx="22860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15544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83.8%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554480"/>
            <a:ext cx="22860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5544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98.5%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1554480"/>
            <a:ext cx="22860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5544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AF50"/>
                </a:solidFill>
              </a:rPr>
              <a:t>CART 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956816"/>
            <a:ext cx="3200400" cy="38404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95681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1956816"/>
            <a:ext cx="2286000" cy="38404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39" y="19568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84.2%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956816"/>
            <a:ext cx="2286000" cy="38404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9568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98.6%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1956816"/>
            <a:ext cx="2286000" cy="38404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19568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AF50"/>
                </a:solidFill>
              </a:rPr>
              <a:t>CART 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359152"/>
            <a:ext cx="32004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359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2359152"/>
            <a:ext cx="22860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39" y="23591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83.8%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359152"/>
            <a:ext cx="22860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23591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98.5%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2359152"/>
            <a:ext cx="22860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23591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AF50"/>
                </a:solidFill>
              </a:rPr>
              <a:t>CART 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761488"/>
            <a:ext cx="3200400" cy="38404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27614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2761488"/>
            <a:ext cx="2286000" cy="38404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39" y="276148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83.5%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2761488"/>
            <a:ext cx="2286000" cy="38404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276148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98.5%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2761488"/>
            <a:ext cx="2286000" cy="38404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276148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AF50"/>
                </a:solidFill>
              </a:rPr>
              <a:t>CART 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163824"/>
            <a:ext cx="32004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1638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Interpretable?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39" y="3163824"/>
            <a:ext cx="22860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39" y="316382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163824"/>
            <a:ext cx="22860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316382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3163824"/>
            <a:ext cx="22860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316382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AF50"/>
                </a:solidFill>
              </a:rPr>
              <a:t>CART 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566160"/>
            <a:ext cx="3200400" cy="38404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35661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Training speed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39" y="3566160"/>
            <a:ext cx="2286000" cy="38404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49039" y="35661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3566160"/>
            <a:ext cx="2286000" cy="38404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80" y="35661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03920" y="3566160"/>
            <a:ext cx="2286000" cy="38404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3920" y="35661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9922"/>
                </a:solidFill>
              </a:rPr>
              <a:t>Tie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968496"/>
            <a:ext cx="32004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396849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Prediction speed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9039" y="3968496"/>
            <a:ext cx="22860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49039" y="39684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Slow (all pairs)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3968496"/>
            <a:ext cx="22860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80" y="39684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Fast (tree walk)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03920" y="3968496"/>
            <a:ext cx="2286000" cy="38404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03920" y="39684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AF50"/>
                </a:solidFill>
              </a:rPr>
              <a:t>CART 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9CF4"/>
                </a:solidFill>
              </a:rPr>
              <a:t>Verdict: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4983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CART is the clear winner — 15 percentage points higher accuracy AND full interpretability.
For SDTM domain classification, CART's decision rules align naturally with clinical naming conventions.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CART — Decision Tree &amp; Feature Importance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Decision Tree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Top 3 levels of the tree are plotted.
Each node shows:
  • Splitting feature (TF-IDF token)
  • Threshold value
  • Gini impurity
  • Sample count
  • Predicted class (colour-coded)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Feature Importances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importance = total Gini reduction from all
splits on that feature across the tree.
Top discriminating tokens:
  'adverse'    → strongly predicts AE
  'laboratory' → strongly predicts LB
  'vital'      → strongly predicts VS
  'medication' → strongly predicts 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Why interpretability matters in clinical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SDTM mapping is a regulated process.
Auditors and data managers need to understand
WHY a variable was classified into a domain.
CART provides a clear audit trail:
  'If adverse event &gt; 0.3 → predict AE'
KNN gives no such explanation — it only
says 'the 3 most similar variables in
training were all AE'.
→ CART is more trustworthy in regulated
  clinical environments.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Summary &amp; 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303520" cy="5029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Instance-based (lazy learner)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939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Stores all training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963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Cosine distance on TF-IDF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986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Best k chosen by 5-fold 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009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No explicit decision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Black-box — not explainable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056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83.8% test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5303520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097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916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Rule-based tree (eager learner)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939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Learns explicit split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963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Gini impurity criterion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986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max_depth tuned by GridSearch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009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Fully interpretable 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03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Feature importance scores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056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98.5% test accuracy 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9CF4"/>
                </a:solidFill>
              </a:rPr>
              <a:t>Key Takeaway: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1663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Both models leverage TF-IDF features from SDTM variable names &amp; labels. CART outperforms KNN by ~15 percentage points and provides interpretable decision rules — critical for clinical/regulatory use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