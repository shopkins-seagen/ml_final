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2834640"/>
            <a:ext cx="12124944" cy="54864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SDTM Domain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FF"/>
                </a:solidFill>
              </a:rPr>
              <a:t>Classifying Clinical Trial Variables using KNN &amp; CART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AABBDD"/>
                </a:solidFill>
              </a:rPr>
              <a:t>Domains Covered:  AE · CM · DM · EG · EX · LB · MH · PE · SC · 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BBDD"/>
                </a:solidFill>
              </a:rPr>
              <a:t>Models:  K-Nearest Neighbors (KNN)   vs   Classification &amp; Regression Tree (CART)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BBDD"/>
                </a:solidFill>
              </a:rPr>
              <a:t>Dataset: 266 SDTM variables  ·  200 TF-IDF features  ·  10 target classes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89CF4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926080" cy="8229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9CF4"/>
                </a:solidFill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Given a variable label from a clinical trial dataset, automatically predict
which SDTM domain it belongs to (AE, LB, VS, etc.).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2926080" cy="8229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9CF4"/>
                </a:solidFill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Manual SDTM mapping is time-consuming and error-prone.
An ML classifier speeds up dataset curation for clinical submissions.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2926080" cy="8229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9CF4"/>
                </a:solidFill>
              </a:rPr>
              <a:t>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478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Text features (TF-IDF) from variable names &amp; labels → train KNN and CART → compare performance.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2926080" cy="8229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51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9CF4"/>
                </a:solidFill>
              </a:rP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537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266 SDTM variables across 10 domains, sourced from CDISC SDTM Implementation Guide.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89CF4"/>
                </a:solidFill>
              </a:rPr>
              <a:t>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25880" cy="13716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Read sdtm_variables.csv
266 rows × 3 cols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371600"/>
            <a:ext cx="1325880" cy="13716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14884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Drop nulls
Label-encode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371600"/>
            <a:ext cx="1325880" cy="13716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 Eng.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14884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Concat name+label
TF-IDF (200 features)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371600"/>
            <a:ext cx="1325880" cy="13716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14884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75% train / 25% test
Stratified by domain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371600"/>
            <a:ext cx="1325880" cy="13716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Train KNN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14884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CV over k=1..15
Cosine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371600"/>
            <a:ext cx="1325880" cy="13716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Train CART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14884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GridSearch depth
&amp; min_samples_split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1371600"/>
            <a:ext cx="1325880" cy="13716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Evaluate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14884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Accuracy, F1
Confusion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19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9CF4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98480" y="1371600"/>
            <a:ext cx="1325880" cy="13716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138988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9CF4"/>
                </a:solidFill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1783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214884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KNN vs CART
Bar chart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1 — Load &amp; Explore 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Dataset: sdtm_variables.csv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variable_name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08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AETERM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9280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variable_label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9280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Reported Term for the Adverse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768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768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Domain Distribution (266 rows):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1051560" cy="903642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9548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AE
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3291840"/>
            <a:ext cx="1051560" cy="903642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19548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CM
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291840"/>
            <a:ext cx="1051560" cy="1032734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432457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DM
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3291840"/>
            <a:ext cx="1051560" cy="903642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419548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EG
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291840"/>
            <a:ext cx="1051560" cy="742277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034117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EX
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291840"/>
            <a:ext cx="1051560" cy="1000461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4292301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LB
31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291840"/>
            <a:ext cx="1051560" cy="77455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406639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MH
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291840"/>
            <a:ext cx="1051560" cy="710004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00184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PE
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291840"/>
            <a:ext cx="1051560" cy="516367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3808207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SC
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19" y="3291840"/>
            <a:ext cx="1051560" cy="109728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9" y="438912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VS
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0515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Key observations:
• 3 columns: variable_name, variable_label, domain
• 10 SDTM domains are the target classes
• No missing values in the dataset
• Domain counts range from 16 (SC) to 34 (VS)
• Original: 198 rows
  After augmentation: 266 rows (+68 synthetic)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2 — Data Preprocessing &amp; Label Encoding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2a — Drop missing values (defensive)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03520" cy="45720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df_clean = df.dropna().copy()
→ 266 clean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2b — Label Encode the domain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5303520" cy="45720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le = LabelEncoder()
df_clean['domain_encoded'] = le.fit_transform(df_clean['domain'])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9CF4"/>
                </a:solidFill>
              </a:rPr>
              <a:t>Why label encoding?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ML models need numeric targets, not strings.
LabelEncoder maps each domain to an integer (0–9).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Domain → Encoded Label Mapping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5544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38528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385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93852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22576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3225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DM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32257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706624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066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70662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090672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090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474720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474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LB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4747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858768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858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MH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8587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242816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2428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24281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626864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6268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SC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6268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010912"/>
            <a:ext cx="1828800" cy="34747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0109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9CF4"/>
                </a:solidFill>
              </a:rPr>
              <a:t>VS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01091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3 — Feature Engineering (TF-IDF)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Combine variable_name + variable_label into one text string per row: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50292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df_clean['text'] = df_clean['variable_name'].str.lower() + ' ' + df_clean['variable_label'].str.lower()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TF-IDF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5303520" cy="62179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243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22"/>
                </a:solidFill>
              </a:rPr>
              <a:t>ngram_range=(1,2)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Captures unigrams AND bigrams
e.g. 'adverse' + 'adverse event'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5303520" cy="62179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101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22"/>
                </a:solidFill>
              </a:rPr>
              <a:t>max_features=200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84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Keeps top 200 most informative tokens
out of 1000+ possible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5303520" cy="62179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959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22"/>
                </a:solidFill>
              </a:rPr>
              <a:t>sublinear_tf=True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70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Uses log(TF)+1 instead of raw TF
Reduces dominance of frequent words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5303520" cy="62179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817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22"/>
                </a:solidFill>
              </a:rPr>
              <a:t>stop_words='english'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56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Removes 'the','for','of','in'
Reduces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Output: Feature Matrix 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06040"/>
            <a:ext cx="5486400" cy="164592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Shape:  (266, 200)
• 266 rows = one per SDTM variable
• 200 cols = one per TF-IDF token
• Values = TF-IDF score (0.0 if absent)
Example row for 'aeterm adverse event':
  adverse       →  0.82
  adverse event →  0.71
  laboratory    →  0.00
  vital signs   →  0.00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4 — Train / Test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41148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train_test_split(X, y, test_size=0.25, random_state=42, stratify=y)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1737360"/>
            <a:ext cx="2743200" cy="822960"/>
          </a:xfrm>
          <a:prstGeom prst="rect">
            <a:avLst/>
          </a:prstGeom>
          <a:solidFill>
            <a:srgbClr val="FF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TRAINING SET
148 samples (75%)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 SET
50 samples (25%)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parameters: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test_size=0.25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25% held out for final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93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random_state=42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6393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Reproducible split every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78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9CF4"/>
                </a:solidFill>
              </a:rPr>
              <a:t>stratify=y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0782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Each domain keeps same proportion
in both train and test 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stratify?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Without stratify, a domain with only 16 rows (SC)
could end up with 0 samples in the test set.
stratify=y guarantees every domain appears
in both splits in its correct proportion.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5 — Train KNN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KNN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1. Memorizes all 148 training samples
2. Given a test sample, computes COSINE
   DISTANCE to every training point
3. Finds k nearest neighbors
4. Takes majority vote → predicted domain
Why cosine? TF-IDF vectors are sparse &amp;
high-dimensional. Cosine measures direction
(word usage pattern), not magnitude.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Hyperparameter tuning: find best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5303520" cy="91440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for k in range(1, 16):
    5-fold CV on X_train
    record mean accuracy
best_k = k with highest CV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Cross-Validation explained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5-fold CV splits training data into 5 parts:
  Fold 1: [Val] [Tr] [Tr] [Tr] [Tr]
  Fold 2: [Tr] [Val] [Tr] [Tr] [Tr]
  Fold 3: [Tr] [Tr] [Val] [Tr] [Tr]
  Fold 4: [Tr] [Tr] [Tr] [Val] [Tr]
  Fold 5: [Tr] [Tr] [Tr] [Tr] [Val]
Average accuracy across 5 folds = CV score
Test data is NEVER seen during this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6 — Train CART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CART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Builds a binary decision tree by repeatedly
splitting the data on the feature that most
reduces GINI IMPURITY:
  Gini = 1 - Σ(pᵢ)²
  • Gini = 0  → perfectly pure node
  • Gini = 0.9 → very mixed node
At each node: 'Is token X score &gt; 0.3?'
→ YES branch / NO branch → leaf =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GridSearchCV parameter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5303520" cy="822960"/>
          </a:xfrm>
          <a:prstGeom prst="rect">
            <a:avLst/>
          </a:prstGeom>
          <a:solidFill>
            <a:srgbClr val="202038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max_depth: [3, 5, 7, 10, None]
min_samples_split: [2, 4, 6]
→ 5 × 3 = 15 combinations × 5-fold CV = 75 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hyperparameters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03520" cy="71323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81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922"/>
                </a:solidFill>
              </a:rPr>
              <a:t>max_depth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7393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Limits tree depth → prevents overfitting
None = grow until pure leaves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40280"/>
            <a:ext cx="5303520" cy="71323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585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922"/>
                </a:solidFill>
              </a:rPr>
              <a:t>min_samples_split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511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Min samples needed to split a node
Higher = simpler tree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17520"/>
            <a:ext cx="5303520" cy="713232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358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922"/>
                </a:solidFill>
              </a:rPr>
              <a:t>criterion='gini'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284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Splitting criterion
Gini impurity measures node purity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Steps 7 &amp; 8 — Evaluation &amp;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89CF4"/>
                </a:solidFill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% of all predictions correct
(TP+TN) / 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651760" cy="11887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89CF4"/>
                </a:solidFill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Of predicted domain X,
how many were actually X?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651760" cy="11887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89CF4"/>
                </a:solidFill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Of actual domain X,
how many were found?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097280"/>
            <a:ext cx="2651760" cy="11887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115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89CF4"/>
                </a:solidFill>
              </a:rPr>
              <a:t>F1-Score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Harmonic mean of Precision &amp; Recall
Balances both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Confusion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 10×10 matrix showing:
  • Rows = actual domain
  • Cols = predicted domain
  • Diagonal = correct predictions
  • Off-diagonal = misclassifications
Helps identify which domains get confused.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Weighted averaging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Metrics are computed per-class then
averaged weighted by class size.
Important because domains are slightly
imbalanced (SC=16 vs VS=34).
Weighted avg prevents larger domains
from masking poor performance on smaller 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9CF4"/>
                </a:solidFill>
              </a:rPr>
              <a:t>Step 9 — Visualize CART Tree &amp; Feature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Decision Tree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Top 3 levels of the tree are plotted.
Each node shows:
  • Splitting feature (TF-IDF token)
  • Threshold value
  • Gini impurity
  • Sample count
  • Predicted class (colour-coded)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Feature Importances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importance = total Gini reduction from splits
on that feature across the whole tree.
Top features reveal which tokens are
most discriminative, e.g.:
  'adverse'   → strongly predicts AE
  'laboratory'→ strongly predicts LB
  'vital'     → strongly predicts 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 interpretability matters in clinical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SDTM mapping is a regulated process.
Auditors and data managers need to understand
WHY a variable was classified into a domain.
CART provides a clear audit trail:
  'If adverse event &gt; 0.3 → predict AE'
KNN gives no such explanation — it only
says 'the 3 most similar variables in
training were all AE'.
→ CART is more trustworthy in clinical settings
  even if KNN has slightly higher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89CF4"/>
                </a:solidFill>
              </a:rPr>
              <a:t>Summary &amp;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03520" cy="502920"/>
          </a:xfrm>
          <a:prstGeom prst="rect">
            <a:avLst/>
          </a:prstGeom>
          <a:solidFill>
            <a:srgbClr val="589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Instance-based (lazy learner)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939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Stores all training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Cosine distance on TF-IDF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986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Best k chosen by 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009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No explicit decision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Black-box predictions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3035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Rule-based tree (eager learner)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939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Learns explicit split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963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Gini impurity criterion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986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max_depth tuned by GridSearch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009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Fully interpretable 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Feature importance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9CF4"/>
                </a:solidFill>
              </a:rPr>
              <a:t>Key Takeaway: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57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Both models leverage TF-IDF features from SDTM variable names &amp; labels. KNN benefits from cosine similarity on sparse text vectors, while CART provides interpretable rules — critical for clinical/regulatory use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